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67" r:id="rId2"/>
    <p:sldId id="368" r:id="rId3"/>
    <p:sldId id="361" r:id="rId4"/>
    <p:sldId id="376" r:id="rId5"/>
    <p:sldId id="377" r:id="rId6"/>
    <p:sldId id="372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7" r:id="rId16"/>
    <p:sldId id="386" r:id="rId17"/>
    <p:sldId id="388" r:id="rId18"/>
    <p:sldId id="389" r:id="rId19"/>
    <p:sldId id="390" r:id="rId20"/>
    <p:sldId id="391" r:id="rId21"/>
    <p:sldId id="395" r:id="rId22"/>
    <p:sldId id="396" r:id="rId23"/>
    <p:sldId id="373" r:id="rId24"/>
    <p:sldId id="392" r:id="rId25"/>
    <p:sldId id="393" r:id="rId26"/>
    <p:sldId id="374" r:id="rId27"/>
    <p:sldId id="394" r:id="rId28"/>
    <p:sldId id="397" r:id="rId29"/>
    <p:sldId id="398" r:id="rId30"/>
    <p:sldId id="400" r:id="rId31"/>
    <p:sldId id="399" r:id="rId3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05"/>
    <p:restoredTop sz="91301"/>
  </p:normalViewPr>
  <p:slideViewPr>
    <p:cSldViewPr snapToGrid="0" snapToObjects="1">
      <p:cViewPr varScale="1">
        <p:scale>
          <a:sx n="89" d="100"/>
          <a:sy n="89" d="100"/>
        </p:scale>
        <p:origin x="17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CD74CD-D753-8744-A2E1-67B2FE5974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70155-4D7F-2D44-B3D5-C68057C51E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FAE77-EE34-2340-A9ED-3C17705B29A9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96284-9978-2341-943B-BFE1F5F3B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57816-83AB-8448-B2D4-19B2BB2BAA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B2C29-FF36-7D4C-9472-FCF02029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92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9:50:00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1 393 22743,'13'-2'0,"-2"1"895,9-2-895,-9 0 307,28-2-307,-21 3 156,15 0-156,-8 1 474,-12 1-474,19 0 0,-18 0 0,18 0 0,-7-2 0,2 1 0,12-6 0,-19 4 0,33-7 0,-28 6 0,26-5 0,-32 6 0,18-1 0,-22 3 0,25-2 0,-27 2 0,34-1 0,-23 0 0,55-5 0,-33 0 0,5-2 0,-1-1 0,-8-1 0,44-12 0,-56 14 0,34-10 0,-40 12 0,51-13 0,-37 10 0,48-8 0,-49 11 0,35-3 0,-39 7 0,42-3 0,-42 3 0,39-6 0,-49 6 0,24-6 0,-24 2 0,35-10 0,-27 7 0,37-7 0,-39 13 0,48-6 0,-36 6 0,55-8 0,-52 6 0,34-6 0,-51 7 0,14-1 0,-28 3 0,15-1 0,-15 2 0,18 0 0,-14 2 0,21 0 0,-15 1 0,0 0 0,3 1 0,-12-1 0,71 10 0,-30-4 0,20 5 0,2 0 0,-3 0 0,16 3 0,-23-5 0,-46-6 0,23 2 0,-12 6 0,-5-3 0,22 3 0,3 1 0,-2-2 0,25 4 0,-59-13 0,-13-1 0,-2-1 0,2 0 0,-24 7 0,9-3 0,-53 9 0,17-4 0,-17 3 0,0 1 0,9-3 0,-1 1 0,8-2 0,34-8 0,-17 0 0,19-3 0,-20-7 0,14 1 0,-25-10 0,25 10 0,-21-3 0,6 7 0,2 0 0,-26 3 0,30 0 0,-52 1 0,47-1 0,-29-2 0,47 2 0,-6-2 0,15 3 0,-22 0 0,9 0 0,-57 2 0,22 2 0,-3 1 0,-1 0 0,0 1 0,1 0 0,2 1 0,-32 15 0,47-14 0,-12 7 0,10-12 0,21-2 0,-29 0 0,33-1 0,-12 0 0,25 0 0,-5 0 0,7 0 0,-19 2 0,6-1 0,-43 1 0,23-1 0,-24 0 0,-3 1 0,9 0 0,-4 1 0,5 1 0,26-1 0,-6 4 0,28-6 0,-5 2 0,4-1 0,-13 3 0,4-1 0,-21 7 0,16-7 0,-21 8 0,22-7 0,-6 2 0,13-5 0,4-1 0,-24-1 0,-12 0 0,1 0 0,-21 0 0,43 0 0,-17 0 0,18 0 0,1 0 0,-9 0 0,15 0 0,-7 0 0,14 1 0,-6 0 0,6 0 0,-3 2 0,4-2 0,0 1 0,-2 0 0,1-1 0,-10 2 0,8-2 0,-9 3 0,11-2 0,-11 4 0,7-3 0,-27 9 0,13-5 0,-39 12 0,30-10 0,-12 4 0,31-10 0,5 0 0,7-3 0,-4 0 0,-3 2 0,1-1 0,0 0 0,6-1 0,1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5182-76CF-564F-947C-19123E22F84F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7E919-F0C9-3242-B799-B1AECE335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Why does nature care about 1 and 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20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1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C1EB-790F-7247-B712-69DCB0F4B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8623E-537A-2945-B5E4-9D08D4C7A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Avenir Light" panose="020B0402020203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C7F8-B58E-604D-A02C-070D6C28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F301B-4C39-0C47-84B5-C6E5C64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C04B6-F326-A341-8E70-5CB83B9C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0FED-DAB5-6B45-B960-22991262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B706-255C-3146-9F9E-F88AC35F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/>
            </a:lvl1pPr>
            <a:lvl2pPr>
              <a:defRPr sz="2800" baseline="0"/>
            </a:lvl2pPr>
            <a:lvl3pPr>
              <a:defRPr sz="2800" baseline="0"/>
            </a:lvl3pPr>
            <a:lvl4pPr>
              <a:defRPr sz="2800" baseline="0"/>
            </a:lvl4pPr>
            <a:lvl5pPr>
              <a:defRPr sz="28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A06BE-E0BB-C648-AF7B-8A11A787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5BC4-D876-9E41-AFCA-EFA8C5D6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1C440-05E9-5344-A10B-9583EC7A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5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7747-424C-CC49-B42D-9CFF20A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69FE1-B144-FD43-BCBB-7EB207AD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26F06-4676-F147-BD72-BA6C2255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312DE-9F8B-1B46-BEAB-A0E64C8E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1587B-C584-6E49-9DC1-05A03BA3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0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C939-684D-3942-858D-FCE38841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6A0E-44ED-AA47-9766-B6231F122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725E7-AF4A-954B-8C32-B1510E1EC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99DA2-228B-5347-B6F5-FFE3C09D7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25300-0828-1046-8AF6-87272DDF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553BA-D3FC-9C46-8CE5-F7C5B2DC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0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19BF-E28B-1C46-832F-9E19C73C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8F2A9-790A-2A49-9DAC-7676B5AC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358EF-1087-A94E-8677-2CFDDE4A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DEB7C-61D2-7F4C-BF4B-D18808F4E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732E1-84AB-154A-8252-AC83C03E6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7F135-14CD-E843-A5AD-98174C3C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5D097-D07F-AA41-A041-003211CE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FAAF5-B118-794A-B8BA-066FCBB5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E4F8-5FE9-144C-B46C-537B4E32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B3810-E53E-854B-9465-A7A0C18E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E7316-AE10-7F49-A664-6D7C2895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38E90-4979-9F4A-B49E-49051AD0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8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50404-32C1-6740-A402-0131D3C9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61101-66D6-6D45-A183-FE8564D7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EF2A5-FB5B-9A4B-9A3D-289EDD5A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F042-3C93-7143-8DA8-CC601C8E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CD37-625B-BA45-8A19-05522A0EA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3ECDC-9174-1042-9741-20DC919AD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4C80-DD37-AF47-9416-92A21ACB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0D0E9-FCA4-D34D-99E5-8D06AA85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A876A-BFE5-044B-BAE9-8438035A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B4AF-738D-3548-BD3A-A772FF71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51A7B-68E4-6E4C-945A-21C255F33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F8974-7061-4643-9131-821367192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5D842-A0F2-B74E-B1A7-F9BA33E5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3807B-6BAE-B740-8D16-D64C936D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03A91-12B0-F84D-9EF4-8868F45C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1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1158-DDBA-454E-8AA8-83D0A93C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20D54-E3CC-814E-B95B-722031226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EFFF5-EB56-AE4B-9EC6-C858B62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DC202-950A-DF4D-AFFD-AA16FEC9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F1720-E80A-C048-B79F-12BC4A88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A97F3-399B-1E49-BAAE-1EB7BABC2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33C54-1FD4-2344-B0DF-833D4539B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0DC5-F258-F643-9273-9055763B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10FB3-D17B-0745-BB26-3BF57D4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5E213-EF8C-2F40-A454-3D87264F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4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02C7F-E0DA-364C-8BC3-70E46E95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93C3-1050-824B-BA69-AB9ED692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4690-652E-BD46-94F4-E3DE17C23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7D075E0F-F1B2-EF4B-A8EE-E2FBA9EDBFA7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010CA-2EF1-0A49-8F1E-1D872244A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894D-556E-E647-B8F8-4ABD7169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5BF1548-D5B3-2748-B836-73DB37690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3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Light" panose="020B0402020203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5" Type="http://schemas.openxmlformats.org/officeDocument/2006/relationships/image" Target="../media/image48.png"/><Relationship Id="rId4" Type="http://schemas.openxmlformats.org/officeDocument/2006/relationships/image" Target="../media/image4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5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67229C-8B0D-7344-9C85-1807B929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/>
              <a:t>By Simen Kvaal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FF875-61BC-C592-1D71-D79CAD3AB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28" y="1417913"/>
            <a:ext cx="4942280" cy="40221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A9050D-4BB1-FABE-F184-AE2236E9A66A}"/>
              </a:ext>
            </a:extLst>
          </p:cNvPr>
          <p:cNvSpPr txBox="1">
            <a:spLocks/>
          </p:cNvSpPr>
          <p:nvPr/>
        </p:nvSpPr>
        <p:spPr>
          <a:xfrm>
            <a:off x="643467" y="804822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Avenir Light" panose="020B0402020203020204" pitchFamily="34" charset="77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/>
              <a:t>ESQC 2024</a:t>
            </a:r>
          </a:p>
          <a:p>
            <a:pPr algn="l"/>
            <a:endParaRPr lang="en-US" sz="4400" dirty="0"/>
          </a:p>
          <a:p>
            <a:pPr algn="l"/>
            <a:r>
              <a:rPr lang="en-US" sz="4400" dirty="0"/>
              <a:t>Mathematical Methods</a:t>
            </a:r>
            <a:br>
              <a:rPr lang="en-US" sz="4400" dirty="0"/>
            </a:br>
            <a:r>
              <a:rPr lang="en-US" sz="4400" dirty="0"/>
              <a:t>Lecture 4</a:t>
            </a:r>
          </a:p>
        </p:txBody>
      </p:sp>
    </p:spTree>
    <p:extLst>
      <p:ext uri="{BB962C8B-B14F-4D97-AF65-F5344CB8AC3E}">
        <p14:creationId xmlns:p14="http://schemas.microsoft.com/office/powerpoint/2010/main" val="298012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AF4D16-6073-72E0-9EDA-AEB8F4F1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Vector Calculus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550E5-7A24-5766-DACD-72E216DB6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1436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6CC0-3AC3-5540-A48A-A695897F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several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18A8-D1BF-904D-911D-F58B352FF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turn to the study of functions </a:t>
            </a:r>
            <a:r>
              <a:rPr lang="en-US" b="1" dirty="0"/>
              <a:t>between vector spaces: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typical </a:t>
            </a:r>
            <a:r>
              <a:rPr lang="en-US" b="1" dirty="0"/>
              <a:t>domain </a:t>
            </a:r>
            <a:r>
              <a:rPr lang="en-US" dirty="0"/>
              <a:t>Ω: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DB16D5-53B7-A147-4E98-9586C3D5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618" y="3898900"/>
            <a:ext cx="9055100" cy="2959100"/>
          </a:xfrm>
          <a:prstGeom prst="rect">
            <a:avLst/>
          </a:prstGeom>
        </p:spPr>
      </p:pic>
      <p:sp>
        <p:nvSpPr>
          <p:cNvPr id="9" name="Oval Callout 8">
            <a:extLst>
              <a:ext uri="{FF2B5EF4-FFF2-40B4-BE49-F238E27FC236}">
                <a16:creationId xmlns:a16="http://schemas.microsoft.com/office/drawing/2014/main" id="{8BD95D51-3D49-F005-ADA3-DC0EE66495B1}"/>
              </a:ext>
            </a:extLst>
          </p:cNvPr>
          <p:cNvSpPr/>
          <p:nvPr/>
        </p:nvSpPr>
        <p:spPr>
          <a:xfrm>
            <a:off x="256696" y="4712677"/>
            <a:ext cx="2219218" cy="961446"/>
          </a:xfrm>
          <a:prstGeom prst="wedgeEllipseCallout">
            <a:avLst>
              <a:gd name="adj1" fmla="val 38466"/>
              <a:gd name="adj2" fmla="val 466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Intervals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0D625D29-3EF5-3997-28F0-2CBFA0960CCE}"/>
              </a:ext>
            </a:extLst>
          </p:cNvPr>
          <p:cNvSpPr/>
          <p:nvPr/>
        </p:nvSpPr>
        <p:spPr>
          <a:xfrm>
            <a:off x="5973123" y="3188420"/>
            <a:ext cx="2654299" cy="1364566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Boxes in </a:t>
            </a:r>
            <a:r>
              <a:rPr lang="en-US" sz="2800" i="1" dirty="0"/>
              <a:t>n</a:t>
            </a:r>
          </a:p>
          <a:p>
            <a:pPr algn="ctr"/>
            <a:r>
              <a:rPr lang="en-US" sz="2800" dirty="0"/>
              <a:t>dimensions</a:t>
            </a:r>
          </a:p>
        </p:txBody>
      </p: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029E240E-10A1-61A1-CC0A-7B5382A36F6F}"/>
              </a:ext>
            </a:extLst>
          </p:cNvPr>
          <p:cNvSpPr/>
          <p:nvPr/>
        </p:nvSpPr>
        <p:spPr>
          <a:xfrm>
            <a:off x="8960131" y="3319010"/>
            <a:ext cx="2504572" cy="13645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Or more general shapes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FCE20-58E4-3C04-68D0-2214EEDF4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575" y="2503470"/>
            <a:ext cx="2019300" cy="40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7AB65E-4153-593C-8CCB-D62ED45DA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563" y="2471720"/>
            <a:ext cx="28448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9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6CCE-F82E-275B-3151-1E92FA60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67A0-CC79-1CFC-FE0E-91E61D6B0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Curves: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Scalar fields: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1F852-54C8-6DB9-7D0D-F00453A1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901" y="-149193"/>
            <a:ext cx="5905500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737BB4-49DC-7A6F-66A3-278D8646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800" y="3981157"/>
            <a:ext cx="2577652" cy="1725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F27312-E8B3-182B-D981-97395A4FF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732" y="2640013"/>
            <a:ext cx="1943100" cy="48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63EFA-576E-BAFF-23A3-5D7E6D684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500" y="4501331"/>
            <a:ext cx="19050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29BA9E-CD4F-A34F-7371-AE73CE554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728" y="6022975"/>
            <a:ext cx="2819400" cy="469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FD4832-7E6E-54B6-72BF-47469BDBA8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9370" y="2594818"/>
            <a:ext cx="4659361" cy="3649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5A8EA4-C610-2429-F335-D62BEDA320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51" y="6311900"/>
            <a:ext cx="43688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074-D9CC-27F7-DFD0-D5A11DA1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Examples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51C5B-7D4E-99CB-081F-B514E2E60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4292" cy="4351338"/>
          </a:xfrm>
        </p:spPr>
        <p:txBody>
          <a:bodyPr/>
          <a:lstStyle/>
          <a:p>
            <a:r>
              <a:rPr lang="nb-NO"/>
              <a:t>Vector fields: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3-vector fields appear in electromagnetism, fluid mechanics,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479BD-C321-8569-7EED-7C702C45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158" y="2472409"/>
            <a:ext cx="20447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29E2D-701A-6252-0454-957144885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24" y="3200400"/>
            <a:ext cx="39116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63755-8A32-2FD6-871A-343B8C098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492" y="671129"/>
            <a:ext cx="5127991" cy="55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6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BADD-D1FF-D207-6E61-3F149C90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Partial derivatives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D2F7-D7D1-D732-8FDE-CD8C3DE23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Extremely useful in optimization</a:t>
            </a:r>
          </a:p>
        </p:txBody>
      </p:sp>
    </p:spTree>
    <p:extLst>
      <p:ext uri="{BB962C8B-B14F-4D97-AF65-F5344CB8AC3E}">
        <p14:creationId xmlns:p14="http://schemas.microsoft.com/office/powerpoint/2010/main" val="90832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FBACE3-37CD-7038-F392-1BD4B906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What is the «slope» of a multivariable function?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2C15CA-0B03-8127-28EF-1B3B62F7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In ordinary calculus: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But in 2D there are infinitely many directions to go.</a:t>
            </a:r>
          </a:p>
          <a:p>
            <a:r>
              <a:rPr lang="nb-NO"/>
              <a:t>For example, the coordinate directions: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6A70A-C92E-54AE-D048-C3D696E40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203" y="2341685"/>
            <a:ext cx="5473700" cy="87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A1A433-E63A-4322-35CF-81064BDC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958" y="4583235"/>
            <a:ext cx="25527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1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8836-F5D9-34D8-0198-3B1A6979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Partial derivatives are ordinary derivatives of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6EE5-7950-1F6E-AE75-818EE3DC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nb-NO"/>
              <a:t>Freeze a value for </a:t>
            </a:r>
            <a:r>
              <a:rPr lang="nb-NO" i="1"/>
              <a:t>x</a:t>
            </a:r>
            <a:r>
              <a:rPr lang="nb-NO" baseline="-25000"/>
              <a:t>1</a:t>
            </a:r>
            <a:r>
              <a:rPr lang="nb-NO"/>
              <a:t> and define a </a:t>
            </a:r>
            <a:r>
              <a:rPr lang="nb-NO" b="1"/>
              <a:t>slice:</a:t>
            </a:r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The partial derivative is the </a:t>
            </a:r>
            <a:r>
              <a:rPr lang="nb-NO" b="1"/>
              <a:t>ordinary derivative</a:t>
            </a:r>
            <a:r>
              <a:rPr lang="nb-NO"/>
              <a:t> of the slice function: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Gradient:</a:t>
            </a:r>
          </a:p>
          <a:p>
            <a:endParaRPr lang="nb-N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A8F77-CC13-BC8F-AD0E-C66F04BA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75" y="4535707"/>
            <a:ext cx="3365500" cy="92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C58B73-4611-0EB2-116F-F07CC036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28" y="2905565"/>
            <a:ext cx="2616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A6D9F8-AD03-58EF-F157-7BD3B90A1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678" y="5662148"/>
            <a:ext cx="38481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5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8394-63DC-F106-D9BB-3EDBF8A0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Quick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E2E8-0999-73AD-0388-607DD7546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>
                <a:latin typeface="Consolas" panose="020B0609020204030204" pitchFamily="49" charset="0"/>
                <a:cs typeface="Consolas" panose="020B0609020204030204" pitchFamily="49" charset="0"/>
              </a:rPr>
              <a:t>lecture-4-hhh.ipynb</a:t>
            </a:r>
          </a:p>
        </p:txBody>
      </p:sp>
    </p:spTree>
    <p:extLst>
      <p:ext uri="{BB962C8B-B14F-4D97-AF65-F5344CB8AC3E}">
        <p14:creationId xmlns:p14="http://schemas.microsoft.com/office/powerpoint/2010/main" val="3288206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EA4E-8BDB-C1C8-19C1-53C23EBC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Directional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9EB9-D49F-390F-193C-1439B683F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It is almost </a:t>
            </a:r>
            <a:r>
              <a:rPr lang="nb-NO" b="1"/>
              <a:t>trivial</a:t>
            </a:r>
            <a:r>
              <a:rPr lang="nb-NO"/>
              <a:t> to see that the directions 1 and 2 are arbitrary.</a:t>
            </a:r>
          </a:p>
          <a:p>
            <a:r>
              <a:rPr lang="nb-NO"/>
              <a:t>Why not choose another direction </a:t>
            </a:r>
            <a:r>
              <a:rPr lang="nb-NO" b="1"/>
              <a:t>u</a:t>
            </a:r>
            <a:r>
              <a:rPr lang="nb-NO"/>
              <a:t>?</a:t>
            </a:r>
          </a:p>
          <a:p>
            <a:r>
              <a:rPr lang="nb-NO"/>
              <a:t>This leads to the </a:t>
            </a:r>
            <a:r>
              <a:rPr lang="nb-NO" b="1"/>
              <a:t>directional derivative</a:t>
            </a:r>
            <a:endParaRPr lang="nb-N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AB4D96-041E-8B23-5706-358993DC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729" y="3555114"/>
            <a:ext cx="37719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9DC88D-EE28-AB0F-6A9A-A49923598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218" y="5516754"/>
            <a:ext cx="5727700" cy="469900"/>
          </a:xfrm>
          <a:prstGeom prst="rect">
            <a:avLst/>
          </a:prstGeom>
        </p:spPr>
      </p:pic>
      <p:sp>
        <p:nvSpPr>
          <p:cNvPr id="12" name="Oval Callout 11">
            <a:extLst>
              <a:ext uri="{FF2B5EF4-FFF2-40B4-BE49-F238E27FC236}">
                <a16:creationId xmlns:a16="http://schemas.microsoft.com/office/drawing/2014/main" id="{0214E9BD-2255-1945-DEA1-8BF83B900088}"/>
              </a:ext>
            </a:extLst>
          </p:cNvPr>
          <p:cNvSpPr/>
          <p:nvPr/>
        </p:nvSpPr>
        <p:spPr>
          <a:xfrm>
            <a:off x="9078742" y="4921917"/>
            <a:ext cx="2771335" cy="1743326"/>
          </a:xfrm>
          <a:prstGeom prst="wedgeEllipseCallout">
            <a:avLst>
              <a:gd name="adj1" fmla="val -78612"/>
              <a:gd name="adj2" fmla="val -72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Gradient contains all directional derivatives!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2898BC-A5E8-5015-108C-2BE804674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729" y="4114295"/>
            <a:ext cx="4787900" cy="876300"/>
          </a:xfrm>
          <a:prstGeom prst="rect">
            <a:avLst/>
          </a:prstGeom>
        </p:spPr>
      </p:pic>
      <p:sp>
        <p:nvSpPr>
          <p:cNvPr id="14" name="Oval Callout 13">
            <a:extLst>
              <a:ext uri="{FF2B5EF4-FFF2-40B4-BE49-F238E27FC236}">
                <a16:creationId xmlns:a16="http://schemas.microsoft.com/office/drawing/2014/main" id="{8D6BF798-1F87-CF99-A292-8762E4B291AF}"/>
              </a:ext>
            </a:extLst>
          </p:cNvPr>
          <p:cNvSpPr/>
          <p:nvPr/>
        </p:nvSpPr>
        <p:spPr>
          <a:xfrm>
            <a:off x="7510046" y="2998128"/>
            <a:ext cx="2771336" cy="1583872"/>
          </a:xfrm>
          <a:prstGeom prst="wedgeEllipseCallout">
            <a:avLst>
              <a:gd name="adj1" fmla="val -75283"/>
              <a:gd name="adj2" fmla="val 338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Derivative of a slice along </a:t>
            </a:r>
            <a:r>
              <a:rPr lang="nb-NO" sz="2400" b="1"/>
              <a:t>u</a:t>
            </a:r>
            <a:endParaRPr lang="nb-NO" sz="2400"/>
          </a:p>
        </p:txBody>
      </p:sp>
    </p:spTree>
    <p:extLst>
      <p:ext uri="{BB962C8B-B14F-4D97-AF65-F5344CB8AC3E}">
        <p14:creationId xmlns:p14="http://schemas.microsoft.com/office/powerpoint/2010/main" val="331625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AF3A-609E-EFBE-8E82-A24CCC3C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Meaning of the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279F-B9A5-D6B3-96E0-47006D103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700" y="1825625"/>
            <a:ext cx="6061364" cy="4351338"/>
          </a:xfrm>
        </p:spPr>
        <p:txBody>
          <a:bodyPr>
            <a:normAutofit/>
          </a:bodyPr>
          <a:lstStyle/>
          <a:p>
            <a:r>
              <a:rPr lang="nb-NO"/>
              <a:t>Directional derivative is a dot product: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The cosine is at max if angle is 0</a:t>
            </a:r>
          </a:p>
          <a:p>
            <a:r>
              <a:rPr lang="nb-NO"/>
              <a:t>The gradient points in the </a:t>
            </a:r>
            <a:r>
              <a:rPr lang="nb-NO" b="1"/>
              <a:t>direction of steepest ascent</a:t>
            </a:r>
          </a:p>
          <a:p>
            <a:endParaRPr lang="nb-NO" b="1"/>
          </a:p>
          <a:p>
            <a:r>
              <a:rPr lang="nb-NO" b="1"/>
              <a:t>Demo: </a:t>
            </a:r>
            <a:r>
              <a:rPr lang="nb-NO">
                <a:latin typeface="Consolas" panose="020B0609020204030204" pitchFamily="49" charset="0"/>
                <a:cs typeface="Consolas" panose="020B0609020204030204" pitchFamily="49" charset="0"/>
              </a:rPr>
              <a:t>lecture-4-gradient.ipynb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3022E-0C3C-15C4-8470-DB07A5A4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992" y="2573564"/>
            <a:ext cx="40767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AB5C320-34E6-8C31-C07A-69CB79663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1675" y="1825625"/>
            <a:ext cx="62303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1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64DF-C761-34C9-493F-28FBE4AC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Finding a local minimum: gradient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6322-14D5-B33F-D1B3-DFAFF1B58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20413" cy="5032375"/>
          </a:xfrm>
        </p:spPr>
        <p:txBody>
          <a:bodyPr>
            <a:normAutofit lnSpcReduction="10000"/>
          </a:bodyPr>
          <a:lstStyle/>
          <a:p>
            <a:r>
              <a:rPr lang="nb-NO"/>
              <a:t>A local minimum must have: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If we always walk downhill, we must come to the bottom eventually!</a:t>
            </a:r>
          </a:p>
          <a:p>
            <a:r>
              <a:rPr lang="nb-NO"/>
              <a:t>Define a </a:t>
            </a:r>
            <a:r>
              <a:rPr lang="nb-NO" b="1"/>
              <a:t>curve</a:t>
            </a:r>
            <a:r>
              <a:rPr lang="nb-NO"/>
              <a:t> as follows: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Starting point for </a:t>
            </a:r>
            <a:r>
              <a:rPr lang="nb-NO" b="1"/>
              <a:t>many algorithms: </a:t>
            </a:r>
            <a:r>
              <a:rPr lang="nb-NO"/>
              <a:t>geometry opt., machine learning ...</a:t>
            </a:r>
          </a:p>
          <a:p>
            <a:endParaRPr lang="nb-NO"/>
          </a:p>
          <a:p>
            <a:pPr marL="0" indent="0">
              <a:buNone/>
            </a:pPr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32CA7-9705-8F75-B22E-DF04367F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370" y="2515027"/>
            <a:ext cx="1841500" cy="46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BF61C-EEDF-60A5-1DDC-D5AAF6BF4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33" y="3119863"/>
            <a:ext cx="58801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942706-41BF-C7D7-05FD-29609FEE5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633" y="5109000"/>
            <a:ext cx="5168900" cy="87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4CB2F6-1314-852F-AAE8-8B2CE1DDF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070" y="4655402"/>
            <a:ext cx="15621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7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F5F9CA0B-E557-8780-F7FF-A74FF9135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3571" y="1489"/>
            <a:ext cx="6932814" cy="678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0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C5BE-F763-1E0D-5179-D39963F5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Differentiability and linear algebra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6FEDE-9414-8DB6-4D1B-A0E328C0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5355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77A767-55A5-F894-47F0-05FE1398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Looking back at calculus 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023F00-B8A7-1FBB-8667-7AB867141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The derivative had an important interpretation:</a:t>
            </a:r>
          </a:p>
          <a:p>
            <a:endParaRPr lang="nb-NO"/>
          </a:p>
          <a:p>
            <a:endParaRPr lang="nb-NO"/>
          </a:p>
          <a:p>
            <a:r>
              <a:rPr lang="nb-NO" i="1"/>
              <a:t>f</a:t>
            </a:r>
            <a:r>
              <a:rPr lang="nb-NO"/>
              <a:t>’(</a:t>
            </a:r>
            <a:r>
              <a:rPr lang="nb-NO" i="1"/>
              <a:t>x</a:t>
            </a:r>
            <a:r>
              <a:rPr lang="nb-NO"/>
              <a:t>) was the </a:t>
            </a:r>
            <a:r>
              <a:rPr lang="nb-NO" b="1"/>
              <a:t>best linear approximation </a:t>
            </a:r>
            <a:r>
              <a:rPr lang="nb-NO"/>
              <a:t>near </a:t>
            </a:r>
            <a:r>
              <a:rPr lang="nb-NO" i="1"/>
              <a:t>x</a:t>
            </a:r>
          </a:p>
          <a:p>
            <a:endParaRPr lang="nb-NO" i="1"/>
          </a:p>
          <a:p>
            <a:r>
              <a:rPr lang="nb-NO" b="1"/>
              <a:t>What replaces this in vector calculus?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4541C-F180-22EF-EBB0-B8B1FDE7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154" y="2513990"/>
            <a:ext cx="39878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61A4F3-5201-87A7-9D68-410D5D64F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847" y="945540"/>
            <a:ext cx="3175000" cy="3632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2A82DB-310D-07E4-8D98-F6EDEBF6B97E}"/>
              </a:ext>
            </a:extLst>
          </p:cNvPr>
          <p:cNvSpPr txBox="1"/>
          <p:nvPr/>
        </p:nvSpPr>
        <p:spPr>
          <a:xfrm>
            <a:off x="8764172" y="4712677"/>
            <a:ext cx="2982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>
                <a:latin typeface="Avenir Book" panose="02000503020000020003" pitchFamily="2" charset="0"/>
              </a:rPr>
              <a:t>Carl Gustaf Jacob Jacobi (1804-1851)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E8FF5279-267C-965D-D7B9-A0707312DCCE}"/>
              </a:ext>
            </a:extLst>
          </p:cNvPr>
          <p:cNvSpPr/>
          <p:nvPr/>
        </p:nvSpPr>
        <p:spPr>
          <a:xfrm>
            <a:off x="5843588" y="5192685"/>
            <a:ext cx="2557462" cy="1422428"/>
          </a:xfrm>
          <a:prstGeom prst="wedgeEllipseCallout">
            <a:avLst>
              <a:gd name="adj1" fmla="val 63465"/>
              <a:gd name="adj2" fmla="val -555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>
                <a:latin typeface="Avenir Book" panose="02000503020000020003" pitchFamily="2" charset="0"/>
              </a:rPr>
              <a:t>Jacobi = «Jacob’s»</a:t>
            </a:r>
          </a:p>
        </p:txBody>
      </p:sp>
    </p:spTree>
    <p:extLst>
      <p:ext uri="{BB962C8B-B14F-4D97-AF65-F5344CB8AC3E}">
        <p14:creationId xmlns:p14="http://schemas.microsoft.com/office/powerpoint/2010/main" val="271536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9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F887AE-BD32-0208-FC04-1C66C876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The Jacobian matrix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055E29-BAFF-0681-4496-385659984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We consdier now a </a:t>
            </a:r>
            <a:r>
              <a:rPr lang="nb-NO" b="1"/>
              <a:t>general function</a:t>
            </a:r>
          </a:p>
          <a:p>
            <a:endParaRPr lang="nb-NO" b="1"/>
          </a:p>
          <a:p>
            <a:endParaRPr lang="nb-NO" b="1"/>
          </a:p>
          <a:p>
            <a:endParaRPr lang="nb-NO" b="1"/>
          </a:p>
          <a:p>
            <a:endParaRPr lang="nb-NO" b="1"/>
          </a:p>
          <a:p>
            <a:r>
              <a:rPr lang="nb-NO"/>
              <a:t>Each </a:t>
            </a:r>
            <a:r>
              <a:rPr lang="nb-NO" i="1"/>
              <a:t>f</a:t>
            </a:r>
            <a:r>
              <a:rPr lang="nb-NO" i="1" baseline="-25000"/>
              <a:t>i</a:t>
            </a:r>
            <a:r>
              <a:rPr lang="nb-NO"/>
              <a:t> now has a gradient. We obtain a </a:t>
            </a:r>
            <a:r>
              <a:rPr lang="nb-NO" b="1"/>
              <a:t>matrix of partial derivatives</a:t>
            </a:r>
            <a:endParaRPr lang="nb-N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49DEB-C783-37D6-4FA1-2D332E205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357164"/>
            <a:ext cx="5905500" cy="15621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5B7883B9-4A37-8845-B720-680F800D20FB}"/>
              </a:ext>
            </a:extLst>
          </p:cNvPr>
          <p:cNvSpPr/>
          <p:nvPr/>
        </p:nvSpPr>
        <p:spPr>
          <a:xfrm>
            <a:off x="8096596" y="482138"/>
            <a:ext cx="2759826" cy="1546167"/>
          </a:xfrm>
          <a:prstGeom prst="wedgeEllipseCallout">
            <a:avLst>
              <a:gd name="adj1" fmla="val -38905"/>
              <a:gd name="adj2" fmla="val 635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/>
              <a:t>A vector of scalar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E000F-1A13-6451-EB51-26C195644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309" y="4980508"/>
            <a:ext cx="7188200" cy="18161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E72D5096-211D-4493-9336-F795FD194606}"/>
              </a:ext>
            </a:extLst>
          </p:cNvPr>
          <p:cNvSpPr/>
          <p:nvPr/>
        </p:nvSpPr>
        <p:spPr>
          <a:xfrm>
            <a:off x="-269153" y="5374180"/>
            <a:ext cx="2557462" cy="1422428"/>
          </a:xfrm>
          <a:prstGeom prst="wedgeEllipseCallout">
            <a:avLst>
              <a:gd name="adj1" fmla="val 56202"/>
              <a:gd name="adj2" fmla="val -123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>
                <a:latin typeface="Avenir Book" panose="02000503020000020003" pitchFamily="2" charset="0"/>
              </a:rPr>
              <a:t>Jacobi’s’s matrix</a:t>
            </a:r>
          </a:p>
        </p:txBody>
      </p:sp>
    </p:spTree>
    <p:extLst>
      <p:ext uri="{BB962C8B-B14F-4D97-AF65-F5344CB8AC3E}">
        <p14:creationId xmlns:p14="http://schemas.microsoft.com/office/powerpoint/2010/main" val="231626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  <p:bldP spid="8" grpId="0" animBg="1"/>
      <p:bldP spid="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52C1-3AB3-7968-CC8A-5D57E6BA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From the Jacobian to linear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BBB6-0F83-EB3C-401E-25ECB785F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We consider a single component </a:t>
            </a:r>
            <a:r>
              <a:rPr lang="nb-NO" i="1"/>
              <a:t>f</a:t>
            </a:r>
            <a:r>
              <a:rPr lang="nb-NO" i="1" baseline="-25000"/>
              <a:t>i </a:t>
            </a:r>
            <a:endParaRPr lang="nb-NO" i="1"/>
          </a:p>
          <a:p>
            <a:r>
              <a:rPr lang="nb-NO"/>
              <a:t>Choose an origin and a direction in which to walk: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Compute the </a:t>
            </a:r>
            <a:r>
              <a:rPr lang="nb-NO" b="1"/>
              <a:t>linear approximation </a:t>
            </a:r>
            <a:r>
              <a:rPr lang="nb-NO"/>
              <a:t>of the slice function: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13F45-0310-0F9E-AAAB-53B241A55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138" y="3050622"/>
            <a:ext cx="3771900" cy="46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350779-5998-E3D7-308B-7C8286BB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098" y="4591085"/>
            <a:ext cx="42164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0950F-23B4-A49A-0466-2D1FC633B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138" y="5182597"/>
            <a:ext cx="30353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4FEE8-8CC0-FE19-9241-47CFE28EF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138" y="5685319"/>
            <a:ext cx="6883400" cy="1104900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A08CC376-2F2A-F044-EB52-675B7446D365}"/>
              </a:ext>
            </a:extLst>
          </p:cNvPr>
          <p:cNvSpPr/>
          <p:nvPr/>
        </p:nvSpPr>
        <p:spPr>
          <a:xfrm>
            <a:off x="9410550" y="3429000"/>
            <a:ext cx="2621087" cy="1753597"/>
          </a:xfrm>
          <a:prstGeom prst="wedgeEllipseCallout">
            <a:avLst>
              <a:gd name="adj1" fmla="val -37603"/>
              <a:gd name="adj2" fmla="val 817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Matrix-vector product!</a:t>
            </a:r>
          </a:p>
        </p:txBody>
      </p:sp>
    </p:spTree>
    <p:extLst>
      <p:ext uri="{BB962C8B-B14F-4D97-AF65-F5344CB8AC3E}">
        <p14:creationId xmlns:p14="http://schemas.microsoft.com/office/powerpoint/2010/main" val="4292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2778-9C44-F599-2F8A-2BDBB3EA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Small changes are linear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09A1-75EC-8594-49FA-C97FF815B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/>
              <a:t>We obtain the vector equation:</a:t>
            </a:r>
          </a:p>
          <a:p>
            <a:endParaRPr lang="nb-NO"/>
          </a:p>
          <a:p>
            <a:pPr marL="0" indent="0">
              <a:buNone/>
            </a:pPr>
            <a:endParaRPr lang="nb-NO"/>
          </a:p>
          <a:p>
            <a:r>
              <a:rPr lang="nb-NO"/>
              <a:t>A derivative in many dimensions is </a:t>
            </a:r>
            <a:r>
              <a:rPr lang="nb-NO" b="1"/>
              <a:t>linear transformation!</a:t>
            </a:r>
          </a:p>
          <a:p>
            <a:r>
              <a:rPr lang="nb-NO" b="1"/>
              <a:t>h</a:t>
            </a:r>
            <a:r>
              <a:rPr lang="nb-NO"/>
              <a:t> is a small change in the input</a:t>
            </a:r>
          </a:p>
          <a:p>
            <a:r>
              <a:rPr lang="nb-NO" b="1"/>
              <a:t>The second term is the small change in the function – which is a linear transformation!</a:t>
            </a:r>
          </a:p>
          <a:p>
            <a:endParaRPr lang="nb-NO" b="1"/>
          </a:p>
          <a:p>
            <a:r>
              <a:rPr lang="nb-NO" b="1"/>
              <a:t>Demo:  </a:t>
            </a:r>
            <a:r>
              <a:rPr lang="nb-NO" b="1">
                <a:latin typeface="Consolas" panose="020B0609020204030204" pitchFamily="49" charset="0"/>
                <a:cs typeface="Consolas" panose="020B0609020204030204" pitchFamily="49" charset="0"/>
              </a:rPr>
              <a:t>lecture-4-parrot-transform.ipynb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BE584E-CDA5-A3FB-1E5C-58D36EA00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2479211"/>
            <a:ext cx="3695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9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0B38-B4ED-4D78-EC6C-0866B23C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What is a differentiable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E680-5F1E-71D5-4AC5-55C282B25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It may be that the first-order Taylor approximation </a:t>
            </a:r>
            <a:r>
              <a:rPr lang="nb-NO" b="1"/>
              <a:t>fails</a:t>
            </a:r>
          </a:p>
          <a:p>
            <a:r>
              <a:rPr lang="nb-NO"/>
              <a:t>For example: Partial derivatives may not exist!</a:t>
            </a:r>
          </a:p>
          <a:p>
            <a:endParaRPr lang="nb-NO"/>
          </a:p>
          <a:p>
            <a:r>
              <a:rPr lang="nb-NO"/>
              <a:t>We say that </a:t>
            </a:r>
            <a:r>
              <a:rPr lang="nb-NO" b="1"/>
              <a:t>f</a:t>
            </a:r>
            <a:r>
              <a:rPr lang="nb-NO"/>
              <a:t> is differentiable at </a:t>
            </a:r>
            <a:r>
              <a:rPr lang="nb-NO" b="1"/>
              <a:t>x</a:t>
            </a:r>
            <a:r>
              <a:rPr lang="nb-NO"/>
              <a:t> if the first-order Taylor expansion holds true!</a:t>
            </a:r>
          </a:p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9DA75-F8FC-EA21-F65F-D169B467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863" y="4452425"/>
            <a:ext cx="3695700" cy="457200"/>
          </a:xfrm>
          <a:prstGeom prst="rect">
            <a:avLst/>
          </a:prstGeom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EA26B9B9-7C20-73A3-4F1A-EB6131A1F07E}"/>
              </a:ext>
            </a:extLst>
          </p:cNvPr>
          <p:cNvSpPr/>
          <p:nvPr/>
        </p:nvSpPr>
        <p:spPr>
          <a:xfrm>
            <a:off x="8356208" y="4698608"/>
            <a:ext cx="2672863" cy="1252025"/>
          </a:xfrm>
          <a:prstGeom prst="wedgeEllipseCallout">
            <a:avLst>
              <a:gd name="adj1" fmla="val -71119"/>
              <a:gd name="adj2" fmla="val -48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b="1"/>
              <a:t>f</a:t>
            </a:r>
            <a:r>
              <a:rPr lang="nb-NO" sz="2400"/>
              <a:t> is differentiable</a:t>
            </a:r>
            <a:endParaRPr lang="nb-NO" sz="2400" b="1"/>
          </a:p>
        </p:txBody>
      </p:sp>
    </p:spTree>
    <p:extLst>
      <p:ext uri="{BB962C8B-B14F-4D97-AF65-F5344CB8AC3E}">
        <p14:creationId xmlns:p14="http://schemas.microsoft.com/office/powerpoint/2010/main" val="285579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30FA-7327-8378-7F9E-EFAF4109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Example of a non-differentiable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C84C6-A096-FE62-51F9-282D053B1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Run </a:t>
            </a:r>
            <a:r>
              <a:rPr lang="nb-NO">
                <a:latin typeface="Consolas" panose="020B0609020204030204" pitchFamily="49" charset="0"/>
                <a:cs typeface="Consolas" panose="020B0609020204030204" pitchFamily="49" charset="0"/>
              </a:rPr>
              <a:t>nondiff_function.py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F057EF4-856A-D763-A004-3D498AC68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407" y="2103437"/>
            <a:ext cx="424180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78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9051-B6BF-1BE2-258F-97F66087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Function composition and the chain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9559C-C902-6788-AA91-69CF9A46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Recall the </a:t>
            </a:r>
            <a:r>
              <a:rPr lang="nb-NO" b="1"/>
              <a:t>chain rule </a:t>
            </a:r>
            <a:r>
              <a:rPr lang="nb-NO"/>
              <a:t>from calculus:</a:t>
            </a:r>
          </a:p>
          <a:p>
            <a:pPr lvl="1"/>
            <a:r>
              <a:rPr lang="nb-NO" i="1"/>
              <a:t>h</a:t>
            </a:r>
            <a:r>
              <a:rPr lang="nb-NO"/>
              <a:t> is the </a:t>
            </a:r>
            <a:r>
              <a:rPr lang="nb-NO" b="1"/>
              <a:t>composition </a:t>
            </a:r>
            <a:r>
              <a:rPr lang="nb-NO"/>
              <a:t>of two functions:</a:t>
            </a:r>
          </a:p>
          <a:p>
            <a:pPr lvl="1"/>
            <a:endParaRPr lang="nb-NO" i="1"/>
          </a:p>
          <a:p>
            <a:pPr lvl="1"/>
            <a:endParaRPr lang="nb-NO" i="1"/>
          </a:p>
          <a:p>
            <a:r>
              <a:rPr lang="nb-NO"/>
              <a:t>Multivariable chain rule:</a:t>
            </a:r>
          </a:p>
          <a:p>
            <a:endParaRPr lang="nb-NO"/>
          </a:p>
          <a:p>
            <a:endParaRPr lang="nb-NO"/>
          </a:p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F128F-CD70-A5CF-2185-6AC6D46F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62058"/>
            <a:ext cx="7772400" cy="488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2A074F-317B-8400-7CB6-DC63135D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481" y="4259581"/>
            <a:ext cx="6502400" cy="48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B011B3-F7D9-7950-0D52-B5BC45DE5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143" y="4889657"/>
            <a:ext cx="3276600" cy="4699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8FFFF7CF-FFB7-257D-E020-3919993A1AA8}"/>
              </a:ext>
            </a:extLst>
          </p:cNvPr>
          <p:cNvSpPr/>
          <p:nvPr/>
        </p:nvSpPr>
        <p:spPr>
          <a:xfrm>
            <a:off x="8054926" y="4481827"/>
            <a:ext cx="3854548" cy="2011048"/>
          </a:xfrm>
          <a:prstGeom prst="wedgeEllipseCallout">
            <a:avLst>
              <a:gd name="adj1" fmla="val -63617"/>
              <a:gd name="adj2" fmla="val -157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One linear transformation following after another</a:t>
            </a: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EBE1EB7D-4A49-90D0-CB79-FE4F4FC69ACB}"/>
              </a:ext>
            </a:extLst>
          </p:cNvPr>
          <p:cNvSpPr/>
          <p:nvPr/>
        </p:nvSpPr>
        <p:spPr>
          <a:xfrm>
            <a:off x="801663" y="5626502"/>
            <a:ext cx="3644900" cy="1112837"/>
          </a:xfrm>
          <a:prstGeom prst="bracketPair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B32D6-AE0B-2164-E82F-B0048F330D00}"/>
              </a:ext>
            </a:extLst>
          </p:cNvPr>
          <p:cNvSpPr txBox="1"/>
          <p:nvPr/>
        </p:nvSpPr>
        <p:spPr>
          <a:xfrm>
            <a:off x="1098217" y="5761464"/>
            <a:ext cx="3051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400">
                <a:latin typeface="STIX Two Text" pitchFamily="2" charset="0"/>
              </a:rPr>
              <a:t>A main component of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1546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0F7BB-2F63-B7F1-B277-23585910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8" b="5634"/>
          <a:stretch>
            <a:fillRect/>
          </a:stretch>
        </p:blipFill>
        <p:spPr>
          <a:xfrm>
            <a:off x="0" y="-815926"/>
            <a:ext cx="12192000" cy="7673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F23E08-0D38-0EEE-19D4-6944D1F415CD}"/>
              </a:ext>
            </a:extLst>
          </p:cNvPr>
          <p:cNvSpPr txBox="1"/>
          <p:nvPr/>
        </p:nvSpPr>
        <p:spPr>
          <a:xfrm>
            <a:off x="1358900" y="2359317"/>
            <a:ext cx="9474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highlight>
                  <a:srgbClr val="FFFF00"/>
                </a:highlight>
                <a:latin typeface="Avenir Book" panose="02000503020000020003" pitchFamily="2" charset="0"/>
              </a:rPr>
              <a:t>Under a mathematical microscope, Vector Calculus is linear algebra.</a:t>
            </a:r>
          </a:p>
        </p:txBody>
      </p:sp>
    </p:spTree>
    <p:extLst>
      <p:ext uri="{BB962C8B-B14F-4D97-AF65-F5344CB8AC3E}">
        <p14:creationId xmlns:p14="http://schemas.microsoft.com/office/powerpoint/2010/main" val="283177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6F66C-DAF1-9694-A03D-B42A3139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The Hessian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390B9-C96D-0401-FA82-2C78DA651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The second derivative of a scalar function</a:t>
            </a:r>
          </a:p>
        </p:txBody>
      </p:sp>
    </p:spTree>
    <p:extLst>
      <p:ext uri="{BB962C8B-B14F-4D97-AF65-F5344CB8AC3E}">
        <p14:creationId xmlns:p14="http://schemas.microsoft.com/office/powerpoint/2010/main" val="2967207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2B9A-3032-6DFE-58D6-CB5502B9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Taylor expansion to one more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1606-3F02-89D1-59F9-D2B33F16B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nb-NO"/>
              <a:t>We focus again on </a:t>
            </a:r>
            <a:r>
              <a:rPr lang="nb-NO" b="1"/>
              <a:t>scalar functions</a:t>
            </a:r>
            <a:endParaRPr lang="nb-NO"/>
          </a:p>
          <a:p>
            <a:r>
              <a:rPr lang="nb-NO"/>
              <a:t>Jacobian = gradient in this case: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Repeated differentiation of the slice function leads to </a:t>
            </a:r>
            <a:r>
              <a:rPr lang="nb-NO" b="1"/>
              <a:t>second order polynomial, </a:t>
            </a:r>
          </a:p>
          <a:p>
            <a:endParaRPr lang="nb-NO" b="1"/>
          </a:p>
          <a:p>
            <a:endParaRPr lang="nb-NO" b="1"/>
          </a:p>
          <a:p>
            <a:r>
              <a:rPr lang="nb-NO" i="1"/>
              <a:t>H</a:t>
            </a:r>
            <a:r>
              <a:rPr lang="nb-NO" i="1" baseline="-25000"/>
              <a:t>f</a:t>
            </a:r>
            <a:r>
              <a:rPr lang="nb-NO" i="1"/>
              <a:t> </a:t>
            </a:r>
            <a:r>
              <a:rPr lang="nb-NO"/>
              <a:t> is called the </a:t>
            </a:r>
            <a:r>
              <a:rPr lang="nb-NO" b="1"/>
              <a:t>Hessian matrix</a:t>
            </a:r>
            <a:endParaRPr lang="nb-NO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F0096-AFB9-E7C9-A1C8-AA54CB78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710" y="3011854"/>
            <a:ext cx="4165600" cy="46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E10931-78FB-C6D4-FB0D-7638704AA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4667983"/>
            <a:ext cx="62230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4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0AF5-1827-A4D8-395A-9C740A532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Hessian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057D-25CB-F619-3EFD-624D964A6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The Hessian matrix is the second derivative of a scalar function: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  <a:p>
            <a:r>
              <a:rPr lang="nb-NO"/>
              <a:t>We say that </a:t>
            </a:r>
            <a:r>
              <a:rPr lang="nb-NO" i="1"/>
              <a:t>f</a:t>
            </a:r>
            <a:r>
              <a:rPr lang="nb-NO"/>
              <a:t> is </a:t>
            </a:r>
            <a:r>
              <a:rPr lang="nb-NO" b="1"/>
              <a:t>twice differentiable</a:t>
            </a:r>
            <a:r>
              <a:rPr lang="nb-NO"/>
              <a:t> if the Taylor approximation holds</a:t>
            </a:r>
          </a:p>
          <a:p>
            <a:r>
              <a:rPr lang="nb-NO"/>
              <a:t>In that case </a:t>
            </a:r>
            <a:r>
              <a:rPr lang="nb-NO" b="1"/>
              <a:t>the Hessian is symmetric</a:t>
            </a:r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E0D84-2BAC-6621-FBDC-DAB6AD61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501" y="2417763"/>
            <a:ext cx="6223000" cy="87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37B27-18A0-34EA-B85D-3A8500C0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24" y="3480594"/>
            <a:ext cx="70993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8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1557-1845-49FF-36F0-8ED03D5F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Maxima, minima, saddle points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EF54F-34B9-AD86-803C-4D57CC653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3436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7A54E-1BBC-5036-4897-EF6A41EA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The Hessian encodes curvature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9988AA-47BB-C16F-C830-AA550E2F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Recall from calculus, near a </a:t>
            </a:r>
            <a:r>
              <a:rPr lang="nb-NO" b="1"/>
              <a:t>stationary point:</a:t>
            </a:r>
          </a:p>
          <a:p>
            <a:endParaRPr lang="nb-NO" b="1"/>
          </a:p>
          <a:p>
            <a:endParaRPr lang="nb-NO" b="1"/>
          </a:p>
          <a:p>
            <a:endParaRPr lang="nb-NO"/>
          </a:p>
          <a:p>
            <a:r>
              <a:rPr lang="nb-NO"/>
              <a:t>Multivariable case, </a:t>
            </a:r>
            <a:r>
              <a:rPr lang="nb-NO" b="1"/>
              <a:t>stationary point</a:t>
            </a:r>
            <a:r>
              <a:rPr lang="nb-NO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A343E-C9F9-1D00-2448-7C1F75A8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137" y="2684462"/>
            <a:ext cx="1701800" cy="49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CF3148-362E-6970-EA29-696418FD6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537" y="2493962"/>
            <a:ext cx="4622800" cy="876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1A500F-D17E-3124-7BB0-A62DA420B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3997" y="1223382"/>
            <a:ext cx="1717441" cy="2205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1D9636-9CB4-B7FA-5A0A-DB88B11D7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919" y="681037"/>
            <a:ext cx="1790700" cy="49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4D800-7ACA-D1D7-D9F0-60EA94A89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8637" y="4492625"/>
            <a:ext cx="7251700" cy="876300"/>
          </a:xfrm>
          <a:prstGeom prst="rect">
            <a:avLst/>
          </a:prstGeom>
        </p:spPr>
      </p:pic>
      <p:sp>
        <p:nvSpPr>
          <p:cNvPr id="12" name="Oval Callout 11">
            <a:extLst>
              <a:ext uri="{FF2B5EF4-FFF2-40B4-BE49-F238E27FC236}">
                <a16:creationId xmlns:a16="http://schemas.microsoft.com/office/drawing/2014/main" id="{642B5028-BBD7-E7D0-67D2-934930388164}"/>
              </a:ext>
            </a:extLst>
          </p:cNvPr>
          <p:cNvSpPr/>
          <p:nvPr/>
        </p:nvSpPr>
        <p:spPr>
          <a:xfrm>
            <a:off x="8482129" y="5229224"/>
            <a:ext cx="3522663" cy="1616075"/>
          </a:xfrm>
          <a:prstGeom prst="wedgeEllipseCallout">
            <a:avLst>
              <a:gd name="adj1" fmla="val -54366"/>
              <a:gd name="adj2" fmla="val -474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Encodes the nature of the stationary point</a:t>
            </a:r>
          </a:p>
        </p:txBody>
      </p:sp>
    </p:spTree>
    <p:extLst>
      <p:ext uri="{BB962C8B-B14F-4D97-AF65-F5344CB8AC3E}">
        <p14:creationId xmlns:p14="http://schemas.microsoft.com/office/powerpoint/2010/main" val="139110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F87F-E6ED-BB23-B859-23817433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Maxima, minima, saddle points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69580-8F1A-4443-3305-23299462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How does the second order term behave?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Since </a:t>
            </a:r>
            <a:r>
              <a:rPr lang="nb-NO" i="1"/>
              <a:t>H</a:t>
            </a:r>
            <a:r>
              <a:rPr lang="nb-NO"/>
              <a:t> is symmetric we have </a:t>
            </a:r>
            <a:r>
              <a:rPr lang="nb-NO" b="1"/>
              <a:t>orthonormal basis of eigenvectors:</a:t>
            </a:r>
          </a:p>
          <a:p>
            <a:endParaRPr lang="nb-NO" b="1"/>
          </a:p>
          <a:p>
            <a:endParaRPr lang="nb-NO" b="1"/>
          </a:p>
          <a:p>
            <a:endParaRPr lang="nb-NO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6F901-D5A3-EE7C-EDF1-903C00D41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326282"/>
            <a:ext cx="6553200" cy="87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15993-19E0-8A81-9831-1348212DF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588" y="4107656"/>
            <a:ext cx="18796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217806-51B8-B506-B358-642340DD0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675" y="3804047"/>
            <a:ext cx="2006600" cy="110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CA3D2B-BAF8-C541-F36C-7C840CD89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8588" y="5153621"/>
            <a:ext cx="4610100" cy="1104900"/>
          </a:xfrm>
          <a:prstGeom prst="rect">
            <a:avLst/>
          </a:prstGeom>
        </p:spPr>
      </p:pic>
      <p:sp>
        <p:nvSpPr>
          <p:cNvPr id="10" name="Oval Callout 9">
            <a:extLst>
              <a:ext uri="{FF2B5EF4-FFF2-40B4-BE49-F238E27FC236}">
                <a16:creationId xmlns:a16="http://schemas.microsoft.com/office/drawing/2014/main" id="{4F9C84FE-99C1-9204-F373-307603D40B5B}"/>
              </a:ext>
            </a:extLst>
          </p:cNvPr>
          <p:cNvSpPr/>
          <p:nvPr/>
        </p:nvSpPr>
        <p:spPr>
          <a:xfrm>
            <a:off x="8157368" y="4306490"/>
            <a:ext cx="3557587" cy="2162969"/>
          </a:xfrm>
          <a:prstGeom prst="wedgeEllipseCallout">
            <a:avLst>
              <a:gd name="adj1" fmla="val -71730"/>
              <a:gd name="adj2" fmla="val -449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/>
              <a:t>Exapansion of the small change in eigendirections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071609-9F96-AD38-CBE9-8A11AE081306}"/>
                  </a:ext>
                </a:extLst>
              </p14:cNvPr>
              <p14:cNvContentPartPr/>
              <p14:nvPr/>
            </p14:nvContentPartPr>
            <p14:xfrm>
              <a:off x="5849595" y="6300742"/>
              <a:ext cx="1258560" cy="164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071609-9F96-AD38-CBE9-8A11AE0813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1955" y="6283102"/>
                <a:ext cx="1294200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84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B80A-6E5A-0560-6841-C521A80F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Maxima, minima, saddle points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6CA8-9B48-D82D-8017-793843F5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3663"/>
            <a:ext cx="10515600" cy="3543299"/>
          </a:xfrm>
        </p:spPr>
        <p:txBody>
          <a:bodyPr/>
          <a:lstStyle/>
          <a:p>
            <a:r>
              <a:rPr lang="nb-NO"/>
              <a:t>All eigenvalues positive ⇒ local minimum</a:t>
            </a:r>
          </a:p>
          <a:p>
            <a:r>
              <a:rPr lang="nb-NO"/>
              <a:t>All eigenvalues negative ⇒ local maxium</a:t>
            </a:r>
          </a:p>
          <a:p>
            <a:r>
              <a:rPr lang="nb-NO"/>
              <a:t>Positive and negative eigenvalues ⇒  saddle 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E02E5-8249-3A60-60D3-EC53C1C34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1528763"/>
            <a:ext cx="4610100" cy="11049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D36D78F-C685-CB58-F25C-96CDACA47A42}"/>
              </a:ext>
            </a:extLst>
          </p:cNvPr>
          <p:cNvGrpSpPr/>
          <p:nvPr/>
        </p:nvGrpSpPr>
        <p:grpSpPr>
          <a:xfrm>
            <a:off x="366713" y="4114800"/>
            <a:ext cx="3657600" cy="2743200"/>
            <a:chOff x="366713" y="4114800"/>
            <a:chExt cx="3657600" cy="2743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0FF9FCF-D934-7BB9-D421-3755924F0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713" y="4114800"/>
              <a:ext cx="3657600" cy="2743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30787B9-C731-A20E-E332-B09922BFE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277" y="4419599"/>
              <a:ext cx="1257300" cy="5588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30ECF2-01BC-ECAE-874C-E09BBC2E80CC}"/>
              </a:ext>
            </a:extLst>
          </p:cNvPr>
          <p:cNvGrpSpPr/>
          <p:nvPr/>
        </p:nvGrpSpPr>
        <p:grpSpPr>
          <a:xfrm>
            <a:off x="4152468" y="4114800"/>
            <a:ext cx="3657600" cy="2743200"/>
            <a:chOff x="4152468" y="4114800"/>
            <a:chExt cx="3657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1839233-9717-DE62-5EA6-56F0EAF95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2468" y="4114800"/>
              <a:ext cx="3657600" cy="27432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1C4594-B0D8-C516-BDA9-8AED1AE8C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4081" y="4376737"/>
              <a:ext cx="1473200" cy="5588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8C741E-7228-DF23-A6EB-3A8F375A6F36}"/>
              </a:ext>
            </a:extLst>
          </p:cNvPr>
          <p:cNvGrpSpPr/>
          <p:nvPr/>
        </p:nvGrpSpPr>
        <p:grpSpPr>
          <a:xfrm>
            <a:off x="7938223" y="4114800"/>
            <a:ext cx="3657600" cy="2743200"/>
            <a:chOff x="7938223" y="4114800"/>
            <a:chExt cx="3657600" cy="27432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FC60F33-4297-3CA3-D6FA-C6C43F92A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38223" y="4114800"/>
              <a:ext cx="3657600" cy="2743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7F049F-7BEB-CAA2-14BC-8767DA053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20774" y="4419599"/>
              <a:ext cx="1257300" cy="55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077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57011EC-4829-FF87-E442-150973E9B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3571" y="1489"/>
            <a:ext cx="6932814" cy="678451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750C5D-CD40-8FC6-AB54-E8392741FDA1}"/>
              </a:ext>
            </a:extLst>
          </p:cNvPr>
          <p:cNvCxnSpPr>
            <a:cxnSpLocks/>
          </p:cNvCxnSpPr>
          <p:nvPr/>
        </p:nvCxnSpPr>
        <p:spPr>
          <a:xfrm flipH="1">
            <a:off x="7572375" y="3043238"/>
            <a:ext cx="211455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A3E085-7832-81D0-05DF-30C8F9BFBC20}"/>
              </a:ext>
            </a:extLst>
          </p:cNvPr>
          <p:cNvSpPr txBox="1"/>
          <p:nvPr/>
        </p:nvSpPr>
        <p:spPr>
          <a:xfrm>
            <a:off x="9686925" y="2781628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>
                <a:latin typeface="Avenir" panose="02000503020000020003" pitchFamily="2" charset="0"/>
              </a:rPr>
              <a:t>Maximum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8CE00C-CD16-DF70-ADB9-4CAEF3B4E4D7}"/>
              </a:ext>
            </a:extLst>
          </p:cNvPr>
          <p:cNvCxnSpPr>
            <a:cxnSpLocks/>
          </p:cNvCxnSpPr>
          <p:nvPr/>
        </p:nvCxnSpPr>
        <p:spPr>
          <a:xfrm flipH="1">
            <a:off x="6215063" y="1728788"/>
            <a:ext cx="301466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908344-9C52-FF31-B23B-572C5EE3F70F}"/>
              </a:ext>
            </a:extLst>
          </p:cNvPr>
          <p:cNvSpPr txBox="1"/>
          <p:nvPr/>
        </p:nvSpPr>
        <p:spPr>
          <a:xfrm>
            <a:off x="9436894" y="1467178"/>
            <a:ext cx="232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>
                <a:latin typeface="Avenir" panose="02000503020000020003" pitchFamily="2" charset="0"/>
              </a:rPr>
              <a:t>Saddle point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9AAC91-BF97-AF9C-1247-B7553D71B642}"/>
              </a:ext>
            </a:extLst>
          </p:cNvPr>
          <p:cNvGrpSpPr/>
          <p:nvPr/>
        </p:nvGrpSpPr>
        <p:grpSpPr>
          <a:xfrm>
            <a:off x="5679282" y="1243013"/>
            <a:ext cx="1071562" cy="985837"/>
            <a:chOff x="5679282" y="1243013"/>
            <a:chExt cx="1071562" cy="98583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D9036-8E14-2C11-3947-F8E006453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7894" y="1243013"/>
              <a:ext cx="435769" cy="985837"/>
            </a:xfrm>
            <a:prstGeom prst="line">
              <a:avLst/>
            </a:prstGeom>
            <a:ln w="38100">
              <a:solidFill>
                <a:schemeClr val="accent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CC3530-B953-FD98-4C72-3C205B9ABFA7}"/>
                </a:ext>
              </a:extLst>
            </p:cNvPr>
            <p:cNvCxnSpPr>
              <a:cxnSpLocks/>
            </p:cNvCxnSpPr>
            <p:nvPr/>
          </p:nvCxnSpPr>
          <p:spPr>
            <a:xfrm>
              <a:off x="5679282" y="1467178"/>
              <a:ext cx="1071562" cy="523220"/>
            </a:xfrm>
            <a:prstGeom prst="line">
              <a:avLst/>
            </a:prstGeom>
            <a:ln w="381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2BFAC78-D70B-275D-629E-6BA0044DC35B}"/>
              </a:ext>
            </a:extLst>
          </p:cNvPr>
          <p:cNvGrpSpPr/>
          <p:nvPr/>
        </p:nvGrpSpPr>
        <p:grpSpPr>
          <a:xfrm>
            <a:off x="6884887" y="2550319"/>
            <a:ext cx="1071562" cy="985837"/>
            <a:chOff x="6884887" y="2550319"/>
            <a:chExt cx="1071562" cy="98583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9114CF5-D51F-D09B-3299-DDBD2BF4B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3499" y="2550319"/>
              <a:ext cx="435769" cy="985837"/>
            </a:xfrm>
            <a:prstGeom prst="line">
              <a:avLst/>
            </a:prstGeom>
            <a:ln w="38100">
              <a:solidFill>
                <a:schemeClr val="accent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3B10ABF-F151-F788-D56D-48D430E75D48}"/>
                </a:ext>
              </a:extLst>
            </p:cNvPr>
            <p:cNvCxnSpPr>
              <a:cxnSpLocks/>
            </p:cNvCxnSpPr>
            <p:nvPr/>
          </p:nvCxnSpPr>
          <p:spPr>
            <a:xfrm>
              <a:off x="6884887" y="2774484"/>
              <a:ext cx="1071562" cy="523220"/>
            </a:xfrm>
            <a:prstGeom prst="line">
              <a:avLst/>
            </a:prstGeom>
            <a:ln w="381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303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4D67-D887-0E20-1848-78738372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End of lecture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DC8D-1FDA-BDD2-331F-7E889BA28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Other topics of vector calculus:</a:t>
            </a:r>
          </a:p>
          <a:p>
            <a:pPr lvl="1"/>
            <a:r>
              <a:rPr lang="nb-NO"/>
              <a:t>Constrained optimization and Lagrange multipliers</a:t>
            </a:r>
          </a:p>
          <a:p>
            <a:pPr lvl="1"/>
            <a:r>
              <a:rPr lang="nb-NO"/>
              <a:t>Integration and the theorems of Gauss and Stoke</a:t>
            </a:r>
          </a:p>
          <a:p>
            <a:pPr lvl="1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168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27400</TotalTime>
  <Words>728</Words>
  <Application>Microsoft Macintosh PowerPoint</Application>
  <PresentationFormat>Widescreen</PresentationFormat>
  <Paragraphs>181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Avenir</vt:lpstr>
      <vt:lpstr>Avenir Book</vt:lpstr>
      <vt:lpstr>Avenir Light</vt:lpstr>
      <vt:lpstr>Calibri</vt:lpstr>
      <vt:lpstr>Consolas</vt:lpstr>
      <vt:lpstr>STIX Two Text</vt:lpstr>
      <vt:lpstr>Times New Roman</vt:lpstr>
      <vt:lpstr>Office Theme</vt:lpstr>
      <vt:lpstr>PowerPoint Presentation</vt:lpstr>
      <vt:lpstr>Vector Calculus</vt:lpstr>
      <vt:lpstr>Functions of several variables</vt:lpstr>
      <vt:lpstr>Examples</vt:lpstr>
      <vt:lpstr>Examples 2</vt:lpstr>
      <vt:lpstr>Partial derivatives</vt:lpstr>
      <vt:lpstr>What is the «slope» of a multivariable function?</vt:lpstr>
      <vt:lpstr>Partial derivatives are ordinary derivatives of slices</vt:lpstr>
      <vt:lpstr>Quick demo</vt:lpstr>
      <vt:lpstr>Directional derivatives</vt:lpstr>
      <vt:lpstr>Meaning of the gradient</vt:lpstr>
      <vt:lpstr>Finding a local minimum: gradient flow</vt:lpstr>
      <vt:lpstr>PowerPoint Presentation</vt:lpstr>
      <vt:lpstr>Differentiability and linear algebra</vt:lpstr>
      <vt:lpstr>Looking back at calculus ...</vt:lpstr>
      <vt:lpstr>The Jacobian matrix</vt:lpstr>
      <vt:lpstr>From the Jacobian to linear approximation</vt:lpstr>
      <vt:lpstr>Small changes are linear</vt:lpstr>
      <vt:lpstr>What is a differentiable function?</vt:lpstr>
      <vt:lpstr>Example of a non-differentiable function</vt:lpstr>
      <vt:lpstr>Function composition and the chain rule</vt:lpstr>
      <vt:lpstr>PowerPoint Presentation</vt:lpstr>
      <vt:lpstr>The Hessian</vt:lpstr>
      <vt:lpstr>Taylor expansion to one more order</vt:lpstr>
      <vt:lpstr>Hessian matrix</vt:lpstr>
      <vt:lpstr>Maxima, minima, saddle points</vt:lpstr>
      <vt:lpstr>The Hessian encodes curvature</vt:lpstr>
      <vt:lpstr>Maxima, minima, saddle points 1</vt:lpstr>
      <vt:lpstr>Maxima, minima, saddle points 2</vt:lpstr>
      <vt:lpstr>PowerPoint Presentation</vt:lpstr>
      <vt:lpstr>End of lecture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Simen Kvaal</dc:creator>
  <cp:lastModifiedBy>Simen Kvaal</cp:lastModifiedBy>
  <cp:revision>199</cp:revision>
  <cp:lastPrinted>2022-09-15T10:12:09Z</cp:lastPrinted>
  <dcterms:created xsi:type="dcterms:W3CDTF">2022-09-11T10:09:47Z</dcterms:created>
  <dcterms:modified xsi:type="dcterms:W3CDTF">2026-09-10T10:00:12Z</dcterms:modified>
</cp:coreProperties>
</file>